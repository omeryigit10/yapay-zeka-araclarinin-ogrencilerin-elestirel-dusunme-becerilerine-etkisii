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ömer yiğit kocabaş" userId="eba97466e04471f0" providerId="LiveId" clId="{3CD8DEFF-1049-4CF3-9D37-D0F44A64F92A}"/>
    <pc:docChg chg="modSld">
      <pc:chgData name="ömer yiğit kocabaş" userId="eba97466e04471f0" providerId="LiveId" clId="{3CD8DEFF-1049-4CF3-9D37-D0F44A64F92A}" dt="2025-11-26T12:06:27.423" v="611"/>
      <pc:docMkLst>
        <pc:docMk/>
      </pc:docMkLst>
      <pc:sldChg chg="addSp modSp mod">
        <pc:chgData name="ömer yiğit kocabaş" userId="eba97466e04471f0" providerId="LiveId" clId="{3CD8DEFF-1049-4CF3-9D37-D0F44A64F92A}" dt="2025-11-26T11:47:59.764" v="428" actId="1076"/>
        <pc:sldMkLst>
          <pc:docMk/>
          <pc:sldMk cId="2995780227" sldId="260"/>
        </pc:sldMkLst>
        <pc:spChg chg="mod">
          <ac:chgData name="ömer yiğit kocabaş" userId="eba97466e04471f0" providerId="LiveId" clId="{3CD8DEFF-1049-4CF3-9D37-D0F44A64F92A}" dt="2025-11-26T11:38:52.531" v="30" actId="20577"/>
          <ac:spMkLst>
            <pc:docMk/>
            <pc:sldMk cId="2995780227" sldId="260"/>
            <ac:spMk id="2" creationId="{C328162F-FE52-CD31-388C-7DEDD0B91C57}"/>
          </ac:spMkLst>
        </pc:spChg>
        <pc:spChg chg="mod">
          <ac:chgData name="ömer yiğit kocabaş" userId="eba97466e04471f0" providerId="LiveId" clId="{3CD8DEFF-1049-4CF3-9D37-D0F44A64F92A}" dt="2025-11-26T11:47:01.389" v="418" actId="20577"/>
          <ac:spMkLst>
            <pc:docMk/>
            <pc:sldMk cId="2995780227" sldId="260"/>
            <ac:spMk id="3" creationId="{C81571C9-0D34-6E8B-6B8E-915BCA71D218}"/>
          </ac:spMkLst>
        </pc:spChg>
        <pc:picChg chg="add mod">
          <ac:chgData name="ömer yiğit kocabaş" userId="eba97466e04471f0" providerId="LiveId" clId="{3CD8DEFF-1049-4CF3-9D37-D0F44A64F92A}" dt="2025-11-26T11:47:59.764" v="428" actId="1076"/>
          <ac:picMkLst>
            <pc:docMk/>
            <pc:sldMk cId="2995780227" sldId="260"/>
            <ac:picMk id="5" creationId="{6F04C255-5657-E137-5A14-0BCA633351B3}"/>
          </ac:picMkLst>
        </pc:picChg>
      </pc:sldChg>
      <pc:sldChg chg="addSp delSp modSp mod">
        <pc:chgData name="ömer yiğit kocabaş" userId="eba97466e04471f0" providerId="LiveId" clId="{3CD8DEFF-1049-4CF3-9D37-D0F44A64F92A}" dt="2025-11-26T11:49:40.559" v="473" actId="962"/>
        <pc:sldMkLst>
          <pc:docMk/>
          <pc:sldMk cId="189665648" sldId="261"/>
        </pc:sldMkLst>
        <pc:spChg chg="mod">
          <ac:chgData name="ömer yiğit kocabaş" userId="eba97466e04471f0" providerId="LiveId" clId="{3CD8DEFF-1049-4CF3-9D37-D0F44A64F92A}" dt="2025-11-26T11:39:26.125" v="44"/>
          <ac:spMkLst>
            <pc:docMk/>
            <pc:sldMk cId="189665648" sldId="261"/>
            <ac:spMk id="2" creationId="{983A538D-EF02-4990-3146-FC2AF92128F7}"/>
          </ac:spMkLst>
        </pc:spChg>
        <pc:spChg chg="del mod">
          <ac:chgData name="ömer yiğit kocabaş" userId="eba97466e04471f0" providerId="LiveId" clId="{3CD8DEFF-1049-4CF3-9D37-D0F44A64F92A}" dt="2025-11-26T11:49:39.870" v="471" actId="931"/>
          <ac:spMkLst>
            <pc:docMk/>
            <pc:sldMk cId="189665648" sldId="261"/>
            <ac:spMk id="3" creationId="{50E71970-06BB-E1AE-50A0-74DE6FA433DD}"/>
          </ac:spMkLst>
        </pc:spChg>
        <pc:picChg chg="add mod">
          <ac:chgData name="ömer yiğit kocabaş" userId="eba97466e04471f0" providerId="LiveId" clId="{3CD8DEFF-1049-4CF3-9D37-D0F44A64F92A}" dt="2025-11-26T11:49:40.559" v="473" actId="962"/>
          <ac:picMkLst>
            <pc:docMk/>
            <pc:sldMk cId="189665648" sldId="261"/>
            <ac:picMk id="5" creationId="{BB2E5828-7455-8D6F-1207-EF89DB6D2BA5}"/>
          </ac:picMkLst>
        </pc:picChg>
      </pc:sldChg>
      <pc:sldChg chg="addSp delSp modSp mod">
        <pc:chgData name="ömer yiğit kocabaş" userId="eba97466e04471f0" providerId="LiveId" clId="{3CD8DEFF-1049-4CF3-9D37-D0F44A64F92A}" dt="2025-11-26T11:50:07.135" v="476" actId="962"/>
        <pc:sldMkLst>
          <pc:docMk/>
          <pc:sldMk cId="2814274555" sldId="262"/>
        </pc:sldMkLst>
        <pc:spChg chg="mod">
          <ac:chgData name="ömer yiğit kocabaş" userId="eba97466e04471f0" providerId="LiveId" clId="{3CD8DEFF-1049-4CF3-9D37-D0F44A64F92A}" dt="2025-11-26T11:39:29.751" v="46"/>
          <ac:spMkLst>
            <pc:docMk/>
            <pc:sldMk cId="2814274555" sldId="262"/>
            <ac:spMk id="2" creationId="{BD9FD9FE-FC68-68C1-A7E2-69805DAABF38}"/>
          </ac:spMkLst>
        </pc:spChg>
        <pc:spChg chg="del">
          <ac:chgData name="ömer yiğit kocabaş" userId="eba97466e04471f0" providerId="LiveId" clId="{3CD8DEFF-1049-4CF3-9D37-D0F44A64F92A}" dt="2025-11-26T11:50:06.739" v="474" actId="931"/>
          <ac:spMkLst>
            <pc:docMk/>
            <pc:sldMk cId="2814274555" sldId="262"/>
            <ac:spMk id="3" creationId="{4480E6E9-935B-804D-CBD3-929CAF6A1ED0}"/>
          </ac:spMkLst>
        </pc:spChg>
        <pc:picChg chg="add mod">
          <ac:chgData name="ömer yiğit kocabaş" userId="eba97466e04471f0" providerId="LiveId" clId="{3CD8DEFF-1049-4CF3-9D37-D0F44A64F92A}" dt="2025-11-26T11:50:07.135" v="476" actId="962"/>
          <ac:picMkLst>
            <pc:docMk/>
            <pc:sldMk cId="2814274555" sldId="262"/>
            <ac:picMk id="5" creationId="{8775F779-960C-E0DA-7FD4-FF9BD22AE9B7}"/>
          </ac:picMkLst>
        </pc:picChg>
      </pc:sldChg>
      <pc:sldChg chg="addSp delSp modSp mod">
        <pc:chgData name="ömer yiğit kocabaş" userId="eba97466e04471f0" providerId="LiveId" clId="{3CD8DEFF-1049-4CF3-9D37-D0F44A64F92A}" dt="2025-11-26T11:52:28.846" v="481" actId="732"/>
        <pc:sldMkLst>
          <pc:docMk/>
          <pc:sldMk cId="1853753331" sldId="263"/>
        </pc:sldMkLst>
        <pc:spChg chg="mod">
          <ac:chgData name="ömer yiğit kocabaş" userId="eba97466e04471f0" providerId="LiveId" clId="{3CD8DEFF-1049-4CF3-9D37-D0F44A64F92A}" dt="2025-11-26T11:39:33.299" v="48"/>
          <ac:spMkLst>
            <pc:docMk/>
            <pc:sldMk cId="1853753331" sldId="263"/>
            <ac:spMk id="2" creationId="{D479CE3D-BEE2-C17A-A200-D8A42A6D50A4}"/>
          </ac:spMkLst>
        </pc:spChg>
        <pc:spChg chg="del">
          <ac:chgData name="ömer yiğit kocabaş" userId="eba97466e04471f0" providerId="LiveId" clId="{3CD8DEFF-1049-4CF3-9D37-D0F44A64F92A}" dt="2025-11-26T11:50:13.519" v="477" actId="931"/>
          <ac:spMkLst>
            <pc:docMk/>
            <pc:sldMk cId="1853753331" sldId="263"/>
            <ac:spMk id="3" creationId="{9F8F05D4-88C0-6558-0243-8D62AF4A0343}"/>
          </ac:spMkLst>
        </pc:spChg>
        <pc:picChg chg="add mod modCrop">
          <ac:chgData name="ömer yiğit kocabaş" userId="eba97466e04471f0" providerId="LiveId" clId="{3CD8DEFF-1049-4CF3-9D37-D0F44A64F92A}" dt="2025-11-26T11:52:28.846" v="481" actId="732"/>
          <ac:picMkLst>
            <pc:docMk/>
            <pc:sldMk cId="1853753331" sldId="263"/>
            <ac:picMk id="5" creationId="{C6D12BE6-2F1E-BC11-983B-011E5F5EF917}"/>
          </ac:picMkLst>
        </pc:picChg>
      </pc:sldChg>
      <pc:sldChg chg="modSp mod">
        <pc:chgData name="ömer yiğit kocabaş" userId="eba97466e04471f0" providerId="LiveId" clId="{3CD8DEFF-1049-4CF3-9D37-D0F44A64F92A}" dt="2025-11-26T11:54:21.803" v="510"/>
        <pc:sldMkLst>
          <pc:docMk/>
          <pc:sldMk cId="2849764715" sldId="264"/>
        </pc:sldMkLst>
        <pc:spChg chg="mod">
          <ac:chgData name="ömer yiğit kocabaş" userId="eba97466e04471f0" providerId="LiveId" clId="{3CD8DEFF-1049-4CF3-9D37-D0F44A64F92A}" dt="2025-11-26T11:53:12.559" v="498" actId="20577"/>
          <ac:spMkLst>
            <pc:docMk/>
            <pc:sldMk cId="2849764715" sldId="264"/>
            <ac:spMk id="2" creationId="{46F91398-F2A2-AA10-ADAE-D9FF68AACDE8}"/>
          </ac:spMkLst>
        </pc:spChg>
        <pc:spChg chg="mod">
          <ac:chgData name="ömer yiğit kocabaş" userId="eba97466e04471f0" providerId="LiveId" clId="{3CD8DEFF-1049-4CF3-9D37-D0F44A64F92A}" dt="2025-11-26T11:54:21.803" v="510"/>
          <ac:spMkLst>
            <pc:docMk/>
            <pc:sldMk cId="2849764715" sldId="264"/>
            <ac:spMk id="3" creationId="{4F254A1E-BE3E-D47F-9BD4-DB755588BF0F}"/>
          </ac:spMkLst>
        </pc:spChg>
      </pc:sldChg>
      <pc:sldChg chg="modSp mod">
        <pc:chgData name="ömer yiğit kocabaş" userId="eba97466e04471f0" providerId="LiveId" clId="{3CD8DEFF-1049-4CF3-9D37-D0F44A64F92A}" dt="2025-11-26T11:55:47.655" v="529"/>
        <pc:sldMkLst>
          <pc:docMk/>
          <pc:sldMk cId="408863229" sldId="265"/>
        </pc:sldMkLst>
        <pc:spChg chg="mod">
          <ac:chgData name="ömer yiğit kocabaş" userId="eba97466e04471f0" providerId="LiveId" clId="{3CD8DEFF-1049-4CF3-9D37-D0F44A64F92A}" dt="2025-11-26T11:54:38.519" v="511"/>
          <ac:spMkLst>
            <pc:docMk/>
            <pc:sldMk cId="408863229" sldId="265"/>
            <ac:spMk id="2" creationId="{42953787-2951-EB0E-8D1D-4CB2ABEF98AC}"/>
          </ac:spMkLst>
        </pc:spChg>
        <pc:spChg chg="mod">
          <ac:chgData name="ömer yiğit kocabaş" userId="eba97466e04471f0" providerId="LiveId" clId="{3CD8DEFF-1049-4CF3-9D37-D0F44A64F92A}" dt="2025-11-26T11:55:47.655" v="529"/>
          <ac:spMkLst>
            <pc:docMk/>
            <pc:sldMk cId="408863229" sldId="265"/>
            <ac:spMk id="3" creationId="{169C3023-4BD4-2B21-AF6A-3EBDE1330803}"/>
          </ac:spMkLst>
        </pc:spChg>
      </pc:sldChg>
      <pc:sldChg chg="modSp mod">
        <pc:chgData name="ömer yiğit kocabaş" userId="eba97466e04471f0" providerId="LiveId" clId="{3CD8DEFF-1049-4CF3-9D37-D0F44A64F92A}" dt="2025-11-26T11:57:22.285" v="557" actId="20577"/>
        <pc:sldMkLst>
          <pc:docMk/>
          <pc:sldMk cId="2062649919" sldId="266"/>
        </pc:sldMkLst>
        <pc:spChg chg="mod">
          <ac:chgData name="ömer yiğit kocabaş" userId="eba97466e04471f0" providerId="LiveId" clId="{3CD8DEFF-1049-4CF3-9D37-D0F44A64F92A}" dt="2025-11-26T11:56:10.959" v="531"/>
          <ac:spMkLst>
            <pc:docMk/>
            <pc:sldMk cId="2062649919" sldId="266"/>
            <ac:spMk id="2" creationId="{D5025598-8F9B-DC8A-7C82-BF37479AC40D}"/>
          </ac:spMkLst>
        </pc:spChg>
        <pc:spChg chg="mod">
          <ac:chgData name="ömer yiğit kocabaş" userId="eba97466e04471f0" providerId="LiveId" clId="{3CD8DEFF-1049-4CF3-9D37-D0F44A64F92A}" dt="2025-11-26T11:57:22.285" v="557" actId="20577"/>
          <ac:spMkLst>
            <pc:docMk/>
            <pc:sldMk cId="2062649919" sldId="266"/>
            <ac:spMk id="3" creationId="{D09521DF-8F25-E3B2-EDAE-93A8C381107B}"/>
          </ac:spMkLst>
        </pc:spChg>
      </pc:sldChg>
      <pc:sldChg chg="addSp modSp mod">
        <pc:chgData name="ömer yiğit kocabaş" userId="eba97466e04471f0" providerId="LiveId" clId="{3CD8DEFF-1049-4CF3-9D37-D0F44A64F92A}" dt="2025-11-26T11:59:44.812" v="586" actId="1076"/>
        <pc:sldMkLst>
          <pc:docMk/>
          <pc:sldMk cId="3086433763" sldId="267"/>
        </pc:sldMkLst>
        <pc:spChg chg="mod">
          <ac:chgData name="ömer yiğit kocabaş" userId="eba97466e04471f0" providerId="LiveId" clId="{3CD8DEFF-1049-4CF3-9D37-D0F44A64F92A}" dt="2025-11-26T11:56:14.109" v="533"/>
          <ac:spMkLst>
            <pc:docMk/>
            <pc:sldMk cId="3086433763" sldId="267"/>
            <ac:spMk id="2" creationId="{F844523F-E0C6-FBF4-6363-0BA8BFF57D48}"/>
          </ac:spMkLst>
        </pc:spChg>
        <pc:spChg chg="mod">
          <ac:chgData name="ömer yiğit kocabaş" userId="eba97466e04471f0" providerId="LiveId" clId="{3CD8DEFF-1049-4CF3-9D37-D0F44A64F92A}" dt="2025-11-26T11:58:55.321" v="579" actId="113"/>
          <ac:spMkLst>
            <pc:docMk/>
            <pc:sldMk cId="3086433763" sldId="267"/>
            <ac:spMk id="3" creationId="{408638CF-41B8-584E-8142-51CC3A72306B}"/>
          </ac:spMkLst>
        </pc:spChg>
        <pc:picChg chg="add mod">
          <ac:chgData name="ömer yiğit kocabaş" userId="eba97466e04471f0" providerId="LiveId" clId="{3CD8DEFF-1049-4CF3-9D37-D0F44A64F92A}" dt="2025-11-26T11:59:44.812" v="586" actId="1076"/>
          <ac:picMkLst>
            <pc:docMk/>
            <pc:sldMk cId="3086433763" sldId="267"/>
            <ac:picMk id="5" creationId="{CACE0B83-2946-F3D7-0FDC-B758543300AD}"/>
          </ac:picMkLst>
        </pc:picChg>
      </pc:sldChg>
      <pc:sldChg chg="modSp mod">
        <pc:chgData name="ömer yiğit kocabaş" userId="eba97466e04471f0" providerId="LiveId" clId="{3CD8DEFF-1049-4CF3-9D37-D0F44A64F92A}" dt="2025-11-26T12:06:27.423" v="611"/>
        <pc:sldMkLst>
          <pc:docMk/>
          <pc:sldMk cId="3129292860" sldId="268"/>
        </pc:sldMkLst>
        <pc:spChg chg="mod">
          <ac:chgData name="ömer yiğit kocabaş" userId="eba97466e04471f0" providerId="LiveId" clId="{3CD8DEFF-1049-4CF3-9D37-D0F44A64F92A}" dt="2025-11-26T12:01:53.491" v="594" actId="20577"/>
          <ac:spMkLst>
            <pc:docMk/>
            <pc:sldMk cId="3129292860" sldId="268"/>
            <ac:spMk id="2" creationId="{087B0CAE-3AAC-37A9-9AFC-A7136973DD58}"/>
          </ac:spMkLst>
        </pc:spChg>
        <pc:spChg chg="mod">
          <ac:chgData name="ömer yiğit kocabaş" userId="eba97466e04471f0" providerId="LiveId" clId="{3CD8DEFF-1049-4CF3-9D37-D0F44A64F92A}" dt="2025-11-26T12:06:27.423" v="611"/>
          <ac:spMkLst>
            <pc:docMk/>
            <pc:sldMk cId="3129292860" sldId="268"/>
            <ac:spMk id="3" creationId="{276CB35B-A2D4-D5E4-E8EF-6C87355794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" TargetMode="External"/><Relationship Id="rId2" Type="http://schemas.openxmlformats.org/officeDocument/2006/relationships/hyperlink" Target="https://www.oecd.org/education/2030-project/teaching-and-learnin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53311A-E033-B3BC-1DDC-449978865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539" y="2476413"/>
            <a:ext cx="9246011" cy="2671319"/>
          </a:xfrm>
        </p:spPr>
        <p:txBody>
          <a:bodyPr/>
          <a:lstStyle/>
          <a:p>
            <a:r>
              <a:rPr lang="tr-TR" dirty="0"/>
              <a:t>Yapay Zeka Araçlarının Öğrencilerin Eleştirel Düşüncesine Etkisi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505824F-D9C0-5FA1-73C5-6634018E8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2355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B5D639-70CF-7E7C-B381-58BB6306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Araştırma Yöntem ve Teknikleri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3F91E1-0599-9C38-C0F4-E244BE307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Hazırlayanlar: Ömer Yiğit Kocabaş, Umut Kılavuz, Mert Emre Selek, Batuhan Baysal</a:t>
            </a:r>
          </a:p>
          <a:p>
            <a:endParaRPr lang="tr-TR" dirty="0"/>
          </a:p>
          <a:p>
            <a:r>
              <a:rPr lang="tr-TR" dirty="0"/>
              <a:t>Öğretim Görevlisi: Sezen Bal</a:t>
            </a:r>
          </a:p>
          <a:p>
            <a:endParaRPr lang="tr-TR" dirty="0"/>
          </a:p>
          <a:p>
            <a:r>
              <a:rPr lang="tr-TR" dirty="0"/>
              <a:t>Tarih: 27.11.2025</a:t>
            </a:r>
          </a:p>
          <a:p>
            <a:endParaRPr lang="tr-TR" dirty="0"/>
          </a:p>
          <a:p>
            <a:r>
              <a:rPr lang="tr-TR" dirty="0"/>
              <a:t>Konu: Yapay Zeka Araçlarının Öğrencilerin Eleştirel Düşünmeye Etkisi</a:t>
            </a:r>
          </a:p>
        </p:txBody>
      </p:sp>
    </p:spTree>
    <p:extLst>
      <p:ext uri="{BB962C8B-B14F-4D97-AF65-F5344CB8AC3E}">
        <p14:creationId xmlns:p14="http://schemas.microsoft.com/office/powerpoint/2010/main" val="254778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F3416C-02CF-6B80-29A3-828028FF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Toplama Tasarımı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9C7A43-745A-82AF-B97F-DABEB1D0B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8"/>
            <a:ext cx="8596668" cy="3880773"/>
          </a:xfrm>
        </p:spPr>
        <p:txBody>
          <a:bodyPr/>
          <a:lstStyle/>
          <a:p>
            <a:r>
              <a:rPr lang="tr-TR" dirty="0"/>
              <a:t>2025’te </a:t>
            </a:r>
            <a:r>
              <a:rPr lang="tr-TR" dirty="0" err="1"/>
              <a:t>Nature.com’da</a:t>
            </a:r>
            <a:r>
              <a:rPr lang="tr-TR" dirty="0"/>
              <a:t> yayınlanan makalede, daha önce üniversite öğrencileri üzerinde yapılmış 51 araştırmanın sonuçları ele alınıyor. Sonuçlar ağırlıklı olarak olumlu sonuçlar vermiş olsa da etki büyüklüğünün çalışmalar arasında değiştiğini raporladılar.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    -J. Wang, Jin Wang, </a:t>
            </a:r>
            <a:r>
              <a:rPr lang="tr-TR" dirty="0" err="1"/>
              <a:t>Wenxiang</a:t>
            </a:r>
            <a:r>
              <a:rPr lang="tr-TR" dirty="0"/>
              <a:t> Fan</a:t>
            </a:r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Resim 4" descr="grafik, logo, simge, sembol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97EBD7E9-F166-259F-8B44-796F7C34E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623" y="4352902"/>
            <a:ext cx="4456089" cy="156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97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A33483-495D-C3DB-72FD-BFE50A55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Toplama Tasarımı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0811A18-BB44-55F7-736C-B3A9ED086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2024’te </a:t>
            </a:r>
            <a:r>
              <a:rPr lang="tr-TR" dirty="0" err="1"/>
              <a:t>ScienceDirect</a:t>
            </a:r>
            <a:r>
              <a:rPr lang="tr-TR" dirty="0"/>
              <a:t> platformunda yayımlanan incelemede </a:t>
            </a:r>
            <a:r>
              <a:rPr lang="tr-TR" dirty="0" err="1"/>
              <a:t>ChatGPT</a:t>
            </a:r>
            <a:r>
              <a:rPr lang="tr-TR" dirty="0"/>
              <a:t> müdahalelerinin akademik başarıyı, duygusal-motivasyonel durumları ve bazı üst düzey düşünme eğilimlerini iyileştirebildiği; aynı zamanda kullanımın zihinsel çabayı azalttığı bildirildi.</a:t>
            </a:r>
          </a:p>
          <a:p>
            <a:pPr marL="0" indent="0">
              <a:buNone/>
            </a:pPr>
            <a:r>
              <a:rPr lang="tr-TR" dirty="0"/>
              <a:t>    </a:t>
            </a:r>
          </a:p>
          <a:p>
            <a:pPr marL="0" indent="0">
              <a:buNone/>
            </a:pPr>
            <a:r>
              <a:rPr lang="tr-TR" dirty="0"/>
              <a:t>    -</a:t>
            </a:r>
            <a:r>
              <a:rPr lang="tr-TR" dirty="0" err="1"/>
              <a:t>Ruiqi</a:t>
            </a:r>
            <a:r>
              <a:rPr lang="tr-TR" dirty="0"/>
              <a:t> </a:t>
            </a:r>
            <a:r>
              <a:rPr lang="tr-TR" dirty="0" err="1"/>
              <a:t>Deng</a:t>
            </a:r>
            <a:endParaRPr lang="tr-TR" dirty="0"/>
          </a:p>
        </p:txBody>
      </p:sp>
      <p:pic>
        <p:nvPicPr>
          <p:cNvPr id="5" name="Resim 4" descr="çizgi film, Animasyon, aksiyon figürü, kurgusal karakter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2163397-DADB-634B-9E91-26B2D502F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4100975"/>
            <a:ext cx="3464141" cy="174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0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60C031-73CB-2256-D606-B0755BE1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Toplama Tasarımı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3C07E2-8586-B325-892A-7C38F3FE8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2025’te çeşitli eğitim dergileri ve çevrimiçi portallarda derleme olarak yayımlanan diğer bir araştırmada yapay zeka araçlarının eleştirel düşünme üzerindeki etkileri üzerine yapılan çalışmalar derleniyor; genel bulgu etkinin bağlama ve pedagojik tasarıma bağlı olduğu yönünde.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    -</a:t>
            </a:r>
            <a:r>
              <a:rPr lang="tr-TR" dirty="0" err="1"/>
              <a:t>Rahyuni</a:t>
            </a:r>
            <a:r>
              <a:rPr lang="tr-TR" dirty="0"/>
              <a:t> Melisa</a:t>
            </a:r>
          </a:p>
        </p:txBody>
      </p:sp>
      <p:pic>
        <p:nvPicPr>
          <p:cNvPr id="5" name="Resim 4" descr="ekran görüntüsü, metin, dijital kompozit oluşturma, bilgisayar oyunu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B1FC1A9-EAF0-EFF3-95E0-5AFA6443A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69" y="4015533"/>
            <a:ext cx="3614862" cy="202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77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28162F-FE52-CD31-388C-7DEDD0B9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Analiz ve Görselleştirme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81571C9-0D34-6E8B-6B8E-915BCA71D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Daha önce yapılmış araştırmaların sonuçları ve yaptığımız anketin sonucuna baktığımızda yapay zeka araçlarının öğrencilerin eleştirel düşüncesine katkı sağladığı, eleştirel düşüncenin farklı etkenlerden dolayı zayıfladığı ortaya çıkmıştır.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5" name="Resim 4" descr="insan yüzü, otomat, giyim, kişi, şahıs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F04C255-5657-E137-5A14-0BCA63335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196" y="3854888"/>
            <a:ext cx="3887065" cy="218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8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83A538D-EF02-4990-3146-FC2AF9212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Analiz ve Görselleştirme</a:t>
            </a:r>
          </a:p>
        </p:txBody>
      </p:sp>
      <p:pic>
        <p:nvPicPr>
          <p:cNvPr id="5" name="İçerik Yer Tutucusu 4" descr="metin, ekran görüntüsü, diyagram, dikdörtge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B2E5828-7455-8D6F-1207-EF89DB6D2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0869" y="2160588"/>
            <a:ext cx="6210299" cy="3881437"/>
          </a:xfrm>
        </p:spPr>
      </p:pic>
    </p:spTree>
    <p:extLst>
      <p:ext uri="{BB962C8B-B14F-4D97-AF65-F5344CB8AC3E}">
        <p14:creationId xmlns:p14="http://schemas.microsoft.com/office/powerpoint/2010/main" val="189665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9FD9FE-FC68-68C1-A7E2-69805DAA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Analiz ve Görselleştirme</a:t>
            </a:r>
          </a:p>
        </p:txBody>
      </p:sp>
      <p:pic>
        <p:nvPicPr>
          <p:cNvPr id="5" name="İçerik Yer Tutucusu 4" descr="metin, ekran görüntüsü, diyagram, dikdörtge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775F779-960C-E0DA-7FD4-FF9BD22AE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0869" y="2160588"/>
            <a:ext cx="6210299" cy="3881437"/>
          </a:xfrm>
        </p:spPr>
      </p:pic>
    </p:spTree>
    <p:extLst>
      <p:ext uri="{BB962C8B-B14F-4D97-AF65-F5344CB8AC3E}">
        <p14:creationId xmlns:p14="http://schemas.microsoft.com/office/powerpoint/2010/main" val="2814274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79CE3D-BEE2-C17A-A200-D8A42A6D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Analiz ve Görselleştirme</a:t>
            </a:r>
          </a:p>
        </p:txBody>
      </p:sp>
      <p:pic>
        <p:nvPicPr>
          <p:cNvPr id="5" name="İçerik Yer Tutucusu 4" descr="metin, ekran görüntüsü, diyagram, dikdörtge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6D12BE6-2F1E-BC11-983B-011E5F5EF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620" b="612"/>
          <a:stretch/>
        </p:blipFill>
        <p:spPr>
          <a:xfrm>
            <a:off x="1870869" y="2160588"/>
            <a:ext cx="5985507" cy="3857657"/>
          </a:xfrm>
        </p:spPr>
      </p:pic>
    </p:spTree>
    <p:extLst>
      <p:ext uri="{BB962C8B-B14F-4D97-AF65-F5344CB8AC3E}">
        <p14:creationId xmlns:p14="http://schemas.microsoft.com/office/powerpoint/2010/main" val="1853753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F91398-F2A2-AA10-ADAE-D9FF68AA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Eleştirel Düşünce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254A1E-BE3E-D47F-9BD4-DB755588B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Onaylama Yanılgısı</a:t>
            </a:r>
            <a:r>
              <a:rPr lang="tr-TR" dirty="0"/>
              <a:t>: Kişinin, halihazırda inandığı görüşleri destekleyen bilgileri arama, kabul etme ve hatırlama eğilimi. Bu, alternatif bakış açılarını otomatik olarak göz ardı etmeye neden olur.</a:t>
            </a:r>
          </a:p>
          <a:p>
            <a:endParaRPr lang="tr-TR" dirty="0"/>
          </a:p>
          <a:p>
            <a:endParaRPr lang="tr-TR" dirty="0"/>
          </a:p>
          <a:p>
            <a:r>
              <a:rPr lang="tr-TR" b="1" dirty="0" err="1"/>
              <a:t>Dunning</a:t>
            </a:r>
            <a:r>
              <a:rPr lang="tr-TR" b="1" dirty="0"/>
              <a:t>-Kruger Etkisi: </a:t>
            </a:r>
            <a:r>
              <a:rPr lang="tr-TR" dirty="0"/>
              <a:t>Belirli bir alanda yetkinliği düşük olan kişilerin, kendi yeteneklerini abartma eğilimi. Bu durum, eleştirel düşünme ihtiyacını görmezden gelmelerine yol açar.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284976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953787-2951-EB0E-8D1D-4CB2ABEF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Eleştirel Düşünce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69C3023-4BD4-2B21-AF6A-3EBDE1330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Duygusal Tepkiler: </a:t>
            </a:r>
            <a:r>
              <a:rPr lang="tr-TR" dirty="0"/>
              <a:t>Özellikle korku, öfke veya aidiyet duygularının tetiklendiği durumlarda, mantık ve rasyonel analiz yerine duygusal tepkilerin devreye girmesi.</a:t>
            </a:r>
          </a:p>
          <a:p>
            <a:endParaRPr lang="tr-TR" b="1" dirty="0"/>
          </a:p>
          <a:p>
            <a:endParaRPr lang="tr-TR" b="1" dirty="0"/>
          </a:p>
          <a:p>
            <a:r>
              <a:rPr lang="tr-TR" b="1" dirty="0"/>
              <a:t>Statükoculuk: </a:t>
            </a:r>
            <a:r>
              <a:rPr lang="tr-TR" dirty="0"/>
              <a:t>Değişiklik yapma riskinden kaçınarak mevcut durumu olduğu gibi sürdürme eğilimi; yeni bilgiyi veya farklı çözümü eleştirel olarak değerlendirmeyi reddetme.</a:t>
            </a:r>
            <a:endParaRPr lang="tr-TR" b="1" dirty="0"/>
          </a:p>
          <a:p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40886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025598-8F9B-DC8A-7C82-BF37479A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Eleştirel Düşünce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9521DF-8F25-E3B2-EDAE-93A8C3811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Ezbercilik ve Tek Doğru Odaklılık: </a:t>
            </a:r>
            <a:r>
              <a:rPr lang="tr-TR" dirty="0"/>
              <a:t>Eğitim sistemlerinin bilgi transferine odaklanması ve sorgulama veya problem çözme becerilerine yeterince yer vermemesi. Öğrenciler tek doğru cevabı bulmaya şartlanır.</a:t>
            </a:r>
          </a:p>
          <a:p>
            <a:endParaRPr lang="tr-TR" dirty="0"/>
          </a:p>
          <a:p>
            <a:endParaRPr lang="tr-TR" dirty="0"/>
          </a:p>
          <a:p>
            <a:r>
              <a:rPr lang="tr-TR" b="1" dirty="0"/>
              <a:t>Otoriteye Aşırı Bağlılık: </a:t>
            </a:r>
            <a:r>
              <a:rPr lang="tr-TR" dirty="0"/>
              <a:t>Öğrencinin bilgiyi kimin söylediğine odaklanması ve bilginin kendisini sorgulamayı bırakması.</a:t>
            </a:r>
          </a:p>
        </p:txBody>
      </p:sp>
    </p:spTree>
    <p:extLst>
      <p:ext uri="{BB962C8B-B14F-4D97-AF65-F5344CB8AC3E}">
        <p14:creationId xmlns:p14="http://schemas.microsoft.com/office/powerpoint/2010/main" val="2062649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44523F-E0C6-FBF4-6363-0BA8BFF5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Eleştirel Düşünce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8638CF-41B8-584E-8142-51CC3A723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Aşırı Bilgi Yükü, Yankı Odaları ve Filtre Baloncukları, Yüzeysel Okuma ve Taramak, Toplumsal Uyum Baskısı, Siyasileştirme, Hoşgörüsüzlük vb.</a:t>
            </a:r>
          </a:p>
        </p:txBody>
      </p:sp>
      <p:pic>
        <p:nvPicPr>
          <p:cNvPr id="5" name="Resim 4" descr="metin, çizim, beyin, grafik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ACE0B83-2946-F3D7-0FDC-B75854330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096" y="3209731"/>
            <a:ext cx="2939143" cy="293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33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7B0CAE-3AAC-37A9-9AFC-A7136973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6CB35B-A2D4-D5E4-E8EF-6C8735579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err="1"/>
              <a:t>Facione</a:t>
            </a:r>
            <a:r>
              <a:rPr lang="en-US" sz="1400" dirty="0"/>
              <a:t>, P. A. (1990). </a:t>
            </a:r>
            <a:r>
              <a:rPr lang="en-US" sz="1400" i="1" dirty="0"/>
              <a:t>Critical thinking: A statement of expert consensus for purposes of educational assessment and instruction (The Delphi Report)</a:t>
            </a:r>
            <a:r>
              <a:rPr lang="en-US" sz="1400" dirty="0"/>
              <a:t>. California Academic Press.</a:t>
            </a:r>
            <a:endParaRPr lang="tr-TR" sz="1400" dirty="0"/>
          </a:p>
          <a:p>
            <a:pPr marL="0" indent="0">
              <a:buNone/>
            </a:pPr>
            <a:r>
              <a:rPr lang="tr-TR" sz="1400" dirty="0"/>
              <a:t>Chen, X., </a:t>
            </a:r>
            <a:r>
              <a:rPr lang="tr-TR" sz="1400" dirty="0" err="1"/>
              <a:t>Zou</a:t>
            </a:r>
            <a:r>
              <a:rPr lang="tr-TR" sz="1400" dirty="0"/>
              <a:t>, D., Cheng, G., &amp; </a:t>
            </a:r>
            <a:r>
              <a:rPr lang="tr-TR" sz="1400" dirty="0" err="1"/>
              <a:t>Xie</a:t>
            </a:r>
            <a:r>
              <a:rPr lang="tr-TR" sz="1400" dirty="0"/>
              <a:t>, H. (2020). </a:t>
            </a:r>
            <a:r>
              <a:rPr lang="tr-TR" sz="1400" dirty="0" err="1"/>
              <a:t>Twenty</a:t>
            </a:r>
            <a:r>
              <a:rPr lang="tr-TR" sz="1400" dirty="0"/>
              <a:t> </a:t>
            </a:r>
            <a:r>
              <a:rPr lang="tr-TR" sz="1400" dirty="0" err="1"/>
              <a:t>years</a:t>
            </a:r>
            <a:r>
              <a:rPr lang="tr-TR" sz="1400" dirty="0"/>
              <a:t> of </a:t>
            </a:r>
            <a:r>
              <a:rPr lang="tr-TR" sz="1400" dirty="0" err="1"/>
              <a:t>research</a:t>
            </a:r>
            <a:r>
              <a:rPr lang="tr-TR" sz="1400" dirty="0"/>
              <a:t> on </a:t>
            </a:r>
            <a:r>
              <a:rPr lang="tr-TR" sz="1400" dirty="0" err="1"/>
              <a:t>artificial</a:t>
            </a:r>
            <a:r>
              <a:rPr lang="tr-TR" sz="1400" dirty="0"/>
              <a:t> </a:t>
            </a:r>
            <a:r>
              <a:rPr lang="tr-TR" sz="1400" dirty="0" err="1"/>
              <a:t>intelligence</a:t>
            </a:r>
            <a:r>
              <a:rPr lang="tr-TR" sz="1400" dirty="0"/>
              <a:t> in </a:t>
            </a:r>
            <a:r>
              <a:rPr lang="tr-TR" sz="1400" dirty="0" err="1"/>
              <a:t>education</a:t>
            </a:r>
            <a:r>
              <a:rPr lang="tr-TR" sz="1400" dirty="0"/>
              <a:t>: </a:t>
            </a:r>
            <a:r>
              <a:rPr lang="tr-TR" sz="1400" dirty="0" err="1"/>
              <a:t>Approaches</a:t>
            </a:r>
            <a:r>
              <a:rPr lang="tr-TR" sz="1400" dirty="0"/>
              <a:t>, </a:t>
            </a:r>
            <a:r>
              <a:rPr lang="tr-TR" sz="1400" dirty="0" err="1"/>
              <a:t>challenges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opportunities</a:t>
            </a:r>
            <a:r>
              <a:rPr lang="tr-TR" sz="1400" dirty="0"/>
              <a:t>. </a:t>
            </a:r>
            <a:r>
              <a:rPr lang="tr-TR" sz="1400" i="1" dirty="0" err="1"/>
              <a:t>Educational</a:t>
            </a:r>
            <a:r>
              <a:rPr lang="tr-TR" sz="1400" i="1" dirty="0"/>
              <a:t> </a:t>
            </a:r>
            <a:r>
              <a:rPr lang="tr-TR" sz="1400" i="1" dirty="0" err="1"/>
              <a:t>Technology</a:t>
            </a:r>
            <a:r>
              <a:rPr lang="tr-TR" sz="1400" i="1" dirty="0"/>
              <a:t> &amp; </a:t>
            </a:r>
            <a:r>
              <a:rPr lang="tr-TR" sz="1400" i="1" dirty="0" err="1"/>
              <a:t>Society</a:t>
            </a:r>
            <a:r>
              <a:rPr lang="tr-TR" sz="1400" dirty="0"/>
              <a:t>, </a:t>
            </a:r>
            <a:r>
              <a:rPr lang="tr-TR" sz="1400" i="1" dirty="0"/>
              <a:t>23</a:t>
            </a:r>
            <a:r>
              <a:rPr lang="tr-TR" sz="1400" dirty="0"/>
              <a:t>(3), 28-47.</a:t>
            </a:r>
          </a:p>
          <a:p>
            <a:pPr marL="0" indent="0">
              <a:buNone/>
            </a:pPr>
            <a:r>
              <a:rPr lang="en-US" sz="1400" dirty="0"/>
              <a:t>Metzger, M. J. (2007). Communicating norms and trust in online interaction. </a:t>
            </a:r>
            <a:r>
              <a:rPr lang="en-US" sz="1400" i="1" dirty="0"/>
              <a:t>Journal of Computer-Mediated Communication</a:t>
            </a:r>
            <a:r>
              <a:rPr lang="en-US" sz="1400" dirty="0"/>
              <a:t>, </a:t>
            </a:r>
            <a:r>
              <a:rPr lang="en-US" sz="1400" i="1" dirty="0"/>
              <a:t>12</a:t>
            </a:r>
            <a:r>
              <a:rPr lang="en-US" sz="1400" dirty="0"/>
              <a:t>(4), 1319-1339.</a:t>
            </a:r>
            <a:endParaRPr lang="tr-TR" sz="1400" dirty="0"/>
          </a:p>
          <a:p>
            <a:pPr marL="0" indent="0">
              <a:buNone/>
            </a:pPr>
            <a:r>
              <a:rPr lang="en-US" sz="1400" dirty="0"/>
              <a:t>OECD. (2021). </a:t>
            </a:r>
            <a:r>
              <a:rPr lang="en-US" sz="1400" i="1" dirty="0"/>
              <a:t>The future of education and skills: Education 2030 framework</a:t>
            </a:r>
            <a:r>
              <a:rPr lang="en-US" sz="1400" dirty="0"/>
              <a:t>. </a:t>
            </a:r>
            <a:r>
              <a:rPr lang="en-US" sz="1400" dirty="0" err="1"/>
              <a:t>Organisation</a:t>
            </a:r>
            <a:r>
              <a:rPr lang="en-US" sz="1400" dirty="0"/>
              <a:t> for Economic Co-operation and Development. </a:t>
            </a:r>
            <a:r>
              <a:rPr lang="en-US" sz="1400" dirty="0">
                <a:hlinkClick r:id="rId2"/>
              </a:rPr>
              <a:t>https://www.oecd.org/education/2030-project/teaching-and-learning/</a:t>
            </a:r>
            <a:endParaRPr lang="tr-TR" sz="1400" dirty="0"/>
          </a:p>
          <a:p>
            <a:pPr marL="0" indent="0">
              <a:buNone/>
            </a:pPr>
            <a:r>
              <a:rPr lang="en-US" sz="1400" dirty="0"/>
              <a:t>Pandas Development Team. (2024). </a:t>
            </a:r>
            <a:r>
              <a:rPr lang="en-US" sz="1400" i="1" dirty="0"/>
              <a:t>pandas: Powerful Python data analysis and manipulation library</a:t>
            </a:r>
            <a:r>
              <a:rPr lang="en-US" sz="1400" dirty="0"/>
              <a:t> (Version 2.2.0). </a:t>
            </a:r>
            <a:r>
              <a:rPr lang="en-US" sz="1400" dirty="0">
                <a:hlinkClick r:id="rId3"/>
              </a:rPr>
              <a:t>https://pandas.pydata.org/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3129292860"/>
      </p:ext>
    </p:extLst>
  </p:cSld>
  <p:clrMapOvr>
    <a:masterClrMapping/>
  </p:clrMapOvr>
</p:sld>
</file>

<file path=ppt/theme/theme1.xml><?xml version="1.0" encoding="utf-8"?>
<a:theme xmlns:a="http://schemas.openxmlformats.org/drawingml/2006/main" name="Yüzeyler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</TotalTime>
  <Words>559</Words>
  <Application>Microsoft Office PowerPoint</Application>
  <PresentationFormat>Geniş ekran</PresentationFormat>
  <Paragraphs>49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Yüzeyler</vt:lpstr>
      <vt:lpstr>Yapay Zeka Araçlarının Öğrencilerin Eleştirel Düşüncesine Etkisi</vt:lpstr>
      <vt:lpstr>Araştırma Yöntem ve Teknikleri</vt:lpstr>
      <vt:lpstr>Veri Toplama Tasarımı</vt:lpstr>
      <vt:lpstr>Veri Toplama Tasarımı</vt:lpstr>
      <vt:lpstr>Veri Toplama Tasarımı</vt:lpstr>
      <vt:lpstr>Analiz ve Görselleştirme</vt:lpstr>
      <vt:lpstr>Analiz ve Görselleştirme</vt:lpstr>
      <vt:lpstr>Analiz ve Görselleştirme</vt:lpstr>
      <vt:lpstr>Analiz ve Görselleştirme</vt:lpstr>
      <vt:lpstr>Eleştirel Düşünce</vt:lpstr>
      <vt:lpstr>Eleştirel Düşünce</vt:lpstr>
      <vt:lpstr>Eleştirel Düşünce</vt:lpstr>
      <vt:lpstr>Eleştirel Düşünce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ömer yiğit kocabaş</dc:creator>
  <cp:lastModifiedBy>ömer yiğit kocabaş</cp:lastModifiedBy>
  <cp:revision>1</cp:revision>
  <dcterms:created xsi:type="dcterms:W3CDTF">2025-11-22T10:13:41Z</dcterms:created>
  <dcterms:modified xsi:type="dcterms:W3CDTF">2025-11-26T12:06:43Z</dcterms:modified>
</cp:coreProperties>
</file>